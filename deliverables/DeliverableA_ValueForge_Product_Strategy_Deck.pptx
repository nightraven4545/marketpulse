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ARR ($M)</c:v>
                </c:pt>
              </c:strCache>
            </c:strRef>
          </c:tx>
          <c:spPr>
            <a:solidFill>
              <a:srgbClr val="2E5496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2.8</c:v>
                </c:pt>
                <c:pt idx="2">
                  <c:v>9.2</c:v>
                </c:pt>
                <c:pt idx="3">
                  <c:v>18.1</c:v>
                </c:pt>
                <c:pt idx="4">
                  <c:v>28.0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sz="900" b="1">
                  <a:solidFill>
                    <a:srgbClr val="1E276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FEA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D8DFEA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$M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2E5496"/>
              </a:solidFill>
            </c:spPr>
          </c:dPt>
          <c:dPt>
            <c:idx val="2"/>
            <c:spPr>
              <a:solidFill>
                <a:srgbClr val="2F9E8F"/>
              </a:solidFill>
            </c:spPr>
          </c:dPt>
          <c:cat>
            <c:strRef>
              <c:f>Sheet1!$A$2:$A$4</c:f>
              <c:strCache>
                <c:ptCount val="3"/>
                <c:pt idx="0">
                  <c:v>TAM
AI in F&amp;B</c:v>
                </c:pt>
                <c:pt idx="1">
                  <c:v>SAM
CPG/insights sw</c:v>
                </c:pt>
                <c:pt idx="2">
                  <c:v>SOM
3-yr obtainable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16000</c:v>
                </c:pt>
                <c:pt idx="1">
                  <c:v>5500</c:v>
                </c:pt>
                <c:pt idx="2">
                  <c:v>45</c:v>
                </c:pt>
              </c:numCache>
            </c:numRef>
          </c:val>
        </c:ser>
        <c:dLbls>
          <c:numFmt formatCode="&quot;$&quot;#,##0&quot;M&quot;" sourceLinked="0"/>
          <c:txPr>
            <a:bodyPr/>
            <a:lstStyle/>
            <a:p>
              <a:pPr>
                <a:defRPr sz="900" b="1">
                  <a:solidFill>
                    <a:srgbClr val="22262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8DFEA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spPr>
          <a:ln>
            <a:solidFill>
              <a:srgbClr val="D8DFEA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D1C4"/>
                </a:solidFill>
                <a:latin typeface="Calibri"/>
              </a:rPr>
              <a:t>PRODUCT STRATEGY · DELIVERABLE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2402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ValueForge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29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CADCFC"/>
                </a:solidFill>
                <a:latin typeface="Calibri"/>
              </a:rPr>
              <a:t>Turn trend signals into a decision-ready product strategy — in hours, not quarters.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D3E8"/>
                </a:solidFill>
                <a:latin typeface="Calibri"/>
              </a:rPr>
              <a:t>A product-strategy copilot for CPG brand &amp; innovation managers, built on Ai Palette’s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D3E8"/>
                </a:solidFill>
                <a:latin typeface="Calibri"/>
              </a:rPr>
              <a:t>trend-intelligence and generative-concepting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A3C0"/>
                </a:solidFill>
                <a:latin typeface="Calibri"/>
              </a:rPr>
              <a:t>Problem  ·  Target user  ·  Differentiation logic  ·  Consumer-resonance mapping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5486400"/>
            <a:ext cx="164592" cy="164592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5486400"/>
            <a:ext cx="164592" cy="164592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5295" y="5486400"/>
            <a:ext cx="164592" cy="1645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9E8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E2761"/>
                </a:solidFill>
                <a:latin typeface="Cambria"/>
              </a:rPr>
              <a:t>Brand managers are data-rich but decision-poor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22262C"/>
                </a:solidFill>
                <a:latin typeface="Calibri"/>
              </a:rPr>
              <a:t>Trend tools surface endless signals but stop at charts. Turning a signal into a defensible, launch-ready concept is slow, manual, and risky.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50008"/>
            <a:ext cx="310896" cy="310896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Signal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42615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B7585"/>
                </a:solidFill>
                <a:latin typeface="Calibri"/>
              </a:rPr>
              <a:t>A thousand trends; none say which concept to build, for whom, or why now.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64408"/>
            <a:ext cx="310896" cy="310896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Slow NPD cycles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57015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B7585"/>
                </a:solidFill>
                <a:latin typeface="Calibri"/>
              </a:rPr>
              <a:t>Insight → concept → validation takes weeks of analyst + agency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178807"/>
            <a:ext cx="310896" cy="310896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Not decision-ready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71416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B7585"/>
                </a:solidFill>
                <a:latin typeface="Calibri"/>
              </a:rPr>
              <a:t>Dashboards stop at charts; leadership needs a recommendation to sign off.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737360"/>
            <a:ext cx="4389120" cy="201168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1874519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B7585"/>
                </a:solidFill>
                <a:latin typeface="Calibri"/>
              </a:rPr>
              <a:t>THE COST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1945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C0392B"/>
                </a:solidFill>
                <a:latin typeface="Cambria"/>
              </a:rPr>
              <a:t>70-80%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15468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62C"/>
                </a:solidFill>
                <a:latin typeface="Calibri"/>
              </a:rPr>
              <a:t>of CPG launches underperform vs. plan (industry estimate)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977639"/>
            <a:ext cx="2103120" cy="155448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3977639"/>
            <a:ext cx="2103120" cy="155448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4160520"/>
            <a:ext cx="1783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89204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585"/>
                </a:solidFill>
                <a:latin typeface="Calibri"/>
              </a:rPr>
              <a:t>to synthesize a concept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4160520"/>
            <a:ext cx="1783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F9E8F"/>
                </a:solidFill>
                <a:latin typeface="Cambria"/>
              </a:rPr>
              <a:t>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89204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585"/>
                </a:solidFill>
                <a:latin typeface="Calibri"/>
              </a:rPr>
              <a:t>with ValueForge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71500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The gap: tools answer “what’s trending?” — managers need “what should we launch, and why will it resonate?”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585"/>
                </a:solidFill>
                <a:latin typeface="Calibri"/>
              </a:rPr>
              <a:t>Illustrative / industry estimates · Ai Palette is private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B7585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9E8F"/>
                </a:solidFill>
                <a:latin typeface="Calibri"/>
              </a:rPr>
              <a:t>TARGET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E2761"/>
                </a:solidFill>
                <a:latin typeface="Cambria"/>
              </a:rPr>
              <a:t>The launch decision sits with one person who doesn’t own the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657600" cy="411480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874519"/>
            <a:ext cx="457200" cy="45720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8366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E5496"/>
                </a:solidFill>
                <a:latin typeface="Calibri"/>
              </a:rP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2140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Brand / Innovation Manager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3026664"/>
            <a:ext cx="91440" cy="9144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2262C"/>
                </a:solidFill>
                <a:latin typeface="Calibri"/>
              </a:rPr>
              <a:t>Owns NPD pipeline &amp; launch P&amp;L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3739896"/>
            <a:ext cx="91440" cy="9144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8503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2262C"/>
                </a:solidFill>
                <a:latin typeface="Calibri"/>
              </a:rPr>
              <a:t>Needs a defensible concept fast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" y="4453128"/>
            <a:ext cx="91440" cy="9144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9826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2262C"/>
                </a:solidFill>
                <a:latin typeface="Calibri"/>
              </a:rPr>
              <a:t>Win: decision-ready brief on demand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645920"/>
            <a:ext cx="3657600" cy="411480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63440" y="1874519"/>
            <a:ext cx="457200" cy="457200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88366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F9E8F"/>
                </a:solidFill>
                <a:latin typeface="Calibri"/>
              </a:rPr>
              <a:t>SECONDARY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12140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Insights / Strategy Lead</a:t>
            </a:r>
          </a:p>
        </p:txBody>
      </p:sp>
      <p:sp>
        <p:nvSpPr>
          <p:cNvPr id="19" name="Oval 18"/>
          <p:cNvSpPr/>
          <p:nvPr/>
        </p:nvSpPr>
        <p:spPr>
          <a:xfrm>
            <a:off x="4690872" y="3026664"/>
            <a:ext cx="91440" cy="91440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297180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2262C"/>
                </a:solidFill>
                <a:latin typeface="Calibri"/>
              </a:rPr>
              <a:t>Validates rigor &amp; data provenance</a:t>
            </a:r>
          </a:p>
        </p:txBody>
      </p:sp>
      <p:sp>
        <p:nvSpPr>
          <p:cNvPr id="21" name="Oval 20"/>
          <p:cNvSpPr/>
          <p:nvPr/>
        </p:nvSpPr>
        <p:spPr>
          <a:xfrm>
            <a:off x="4690872" y="3739896"/>
            <a:ext cx="91440" cy="91440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368503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2262C"/>
                </a:solidFill>
                <a:latin typeface="Calibri"/>
              </a:rPr>
              <a:t>Wants explainable scoring</a:t>
            </a:r>
          </a:p>
        </p:txBody>
      </p:sp>
      <p:sp>
        <p:nvSpPr>
          <p:cNvPr id="23" name="Oval 22"/>
          <p:cNvSpPr/>
          <p:nvPr/>
        </p:nvSpPr>
        <p:spPr>
          <a:xfrm>
            <a:off x="4690872" y="4453128"/>
            <a:ext cx="91440" cy="91440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39826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2262C"/>
                </a:solidFill>
                <a:latin typeface="Calibri"/>
              </a:rPr>
              <a:t>Win: governed self-serve insight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59" y="1645920"/>
            <a:ext cx="3657600" cy="411480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95359" y="187451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39" y="188366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E2761"/>
                </a:solidFill>
                <a:latin typeface="Calibri"/>
              </a:rPr>
              <a:t>ECONOMIC BUYER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39" y="212140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Head of Innovation / CMO</a:t>
            </a:r>
          </a:p>
        </p:txBody>
      </p:sp>
      <p:sp>
        <p:nvSpPr>
          <p:cNvPr id="29" name="Oval 28"/>
          <p:cNvSpPr/>
          <p:nvPr/>
        </p:nvSpPr>
        <p:spPr>
          <a:xfrm>
            <a:off x="8622791" y="3026664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59" y="297180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2262C"/>
                </a:solidFill>
                <a:latin typeface="Calibri"/>
              </a:rPr>
              <a:t>Signs the budget &amp; the launch</a:t>
            </a:r>
          </a:p>
        </p:txBody>
      </p:sp>
      <p:sp>
        <p:nvSpPr>
          <p:cNvPr id="31" name="Oval 30"/>
          <p:cNvSpPr/>
          <p:nvPr/>
        </p:nvSpPr>
        <p:spPr>
          <a:xfrm>
            <a:off x="8622791" y="3739896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59" y="368503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2262C"/>
                </a:solidFill>
                <a:latin typeface="Calibri"/>
              </a:rPr>
              <a:t>Cares about hit-rate &amp; speed</a:t>
            </a:r>
          </a:p>
        </p:txBody>
      </p:sp>
      <p:sp>
        <p:nvSpPr>
          <p:cNvPr id="33" name="Oval 32"/>
          <p:cNvSpPr/>
          <p:nvPr/>
        </p:nvSpPr>
        <p:spPr>
          <a:xfrm>
            <a:off x="8622791" y="44531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59" y="439826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2262C"/>
                </a:solidFill>
                <a:latin typeface="Calibri"/>
              </a:rPr>
              <a:t>Win: portfolio of higher-odds bets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B7585"/>
                </a:solidFill>
                <a:latin typeface="Calibri"/>
              </a:rPr>
              <a:t>Maturity-aware: one product serves an exploratory team (self-serve) and an industrialized global CPG (governed, integrated).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B7585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9E8F"/>
                </a:solidFill>
                <a:latin typeface="Calibri"/>
              </a:rPr>
              <a:t>THE DIFFERENTIATION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E2761"/>
                </a:solidFill>
                <a:latin typeface="Cambria"/>
              </a:rPr>
              <a:t>ValueForge runs the full funnel — incumbents stop halfway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Four stages turn raw signals into a differentiated, defensible recommendation. Each stage narrows with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2697480" cy="1920240"/>
          </a:xfrm>
          <a:prstGeom prst="roundRect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2395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9E8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SENSE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Ingest local signals: e-com, menus, recipes, social, search (18 langs)</a:t>
            </a:r>
          </a:p>
        </p:txBody>
      </p:sp>
      <p:sp>
        <p:nvSpPr>
          <p:cNvPr id="10" name="Chevron 9"/>
          <p:cNvSpPr/>
          <p:nvPr/>
        </p:nvSpPr>
        <p:spPr>
          <a:xfrm>
            <a:off x="3200400" y="2926080"/>
            <a:ext cx="182880" cy="457200"/>
          </a:xfrm>
          <a:prstGeom prst="chevron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64992" y="2194560"/>
            <a:ext cx="2697480" cy="1920240"/>
          </a:xfrm>
          <a:prstGeom prst="round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2395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E549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9718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SYNTHESIZE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3832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Cluster into consumer needs &amp; white-space vs. competitors</a:t>
            </a:r>
          </a:p>
        </p:txBody>
      </p:sp>
      <p:sp>
        <p:nvSpPr>
          <p:cNvPr id="15" name="Chevron 14"/>
          <p:cNvSpPr/>
          <p:nvPr/>
        </p:nvSpPr>
        <p:spPr>
          <a:xfrm>
            <a:off x="6062472" y="2926080"/>
            <a:ext cx="182880" cy="457200"/>
          </a:xfrm>
          <a:prstGeom prst="chevron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7064" y="2194560"/>
            <a:ext cx="2697480" cy="19202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95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9718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CREATE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33832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Generate on-brand concepts (Concept Genie) per need</a:t>
            </a:r>
          </a:p>
        </p:txBody>
      </p:sp>
      <p:sp>
        <p:nvSpPr>
          <p:cNvPr id="20" name="Chevron 19"/>
          <p:cNvSpPr/>
          <p:nvPr/>
        </p:nvSpPr>
        <p:spPr>
          <a:xfrm>
            <a:off x="8924544" y="2926080"/>
            <a:ext cx="182880" cy="457200"/>
          </a:xfrm>
          <a:prstGeom prst="chevron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89136" y="2194560"/>
            <a:ext cx="2697480" cy="1920240"/>
          </a:xfrm>
          <a:prstGeom prst="roundRect">
            <a:avLst/>
          </a:prstGeom>
          <a:solidFill>
            <a:srgbClr val="387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0304" y="2395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8722D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29718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33832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Rank by predicted resonance (Screen Winner) + show drivers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26280"/>
            <a:ext cx="11155680" cy="128016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63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mbria"/>
              </a:rPr>
              <a:t>Differentiation lens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62C"/>
                </a:solidFill>
                <a:latin typeface="Calibri"/>
              </a:rPr>
              <a:t>A concept only advances if it sits in white-space — a strong consumer need competitors aren’t credibly serving in that market. Mintel / Tastewise stop at stage 2 (insight); ValueForge runs 1→4, ending in a decision.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B7585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9E8F"/>
                </a:solidFill>
                <a:latin typeface="Calibri"/>
              </a:rPr>
              <a:t>CONSUMER-RESONANCE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E2761"/>
                </a:solidFill>
                <a:latin typeface="Cambria"/>
              </a:rPr>
              <a:t>We only advance concepts in the white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856231"/>
            <a:ext cx="2048255" cy="2048255"/>
          </a:xfrm>
          <a:prstGeom prst="round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38528"/>
            <a:ext cx="1883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Niche bets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12848"/>
            <a:ext cx="18836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need, but crowded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0632" y="1856231"/>
            <a:ext cx="2048255" cy="2048255"/>
          </a:xfrm>
          <a:prstGeom prst="roundRect">
            <a:avLst/>
          </a:prstGeom>
          <a:solidFill>
            <a:srgbClr val="387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1938528"/>
            <a:ext cx="1883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LAUNCH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2212848"/>
            <a:ext cx="18836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strong need + open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3959352"/>
            <a:ext cx="2048255" cy="2048255"/>
          </a:xfrm>
          <a:prstGeom prst="roundRect">
            <a:avLst/>
          </a:prstGeom>
          <a:solidFill>
            <a:srgbClr val="C7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041648"/>
            <a:ext cx="1883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3405A"/>
                </a:solidFill>
                <a:latin typeface="Calibri"/>
              </a:rPr>
              <a:t>Park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315968"/>
            <a:ext cx="18836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3405A"/>
                </a:solidFill>
                <a:latin typeface="Calibri"/>
              </a:rPr>
              <a:t>weak + crowded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0632" y="3959352"/>
            <a:ext cx="2048255" cy="2048255"/>
          </a:xfrm>
          <a:prstGeom prst="round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4041648"/>
            <a:ext cx="1883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Educate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4315968"/>
            <a:ext cx="18836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open space, build need</a:t>
            </a:r>
          </a:p>
        </p:txBody>
      </p:sp>
      <p:sp>
        <p:nvSpPr>
          <p:cNvPr id="17" name="Oval 16"/>
          <p:cNvSpPr/>
          <p:nvPr/>
        </p:nvSpPr>
        <p:spPr>
          <a:xfrm>
            <a:off x="3697833" y="2531059"/>
            <a:ext cx="118872" cy="1188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61334" y="3204057"/>
            <a:ext cx="118872" cy="1188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31212" y="3035808"/>
            <a:ext cx="118872" cy="1188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29584" y="4886553"/>
            <a:ext cx="118872" cy="1188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59" y="6080759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585"/>
                </a:solidFill>
                <a:latin typeface="Calibri"/>
              </a:rPr>
              <a:t>low  ←  competitive white-space  → 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1828800"/>
            <a:ext cx="27432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585"/>
                </a:solidFill>
                <a:latin typeface="Calibri"/>
              </a:rPr>
              <a:t>need intensity →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0" y="1920239"/>
            <a:ext cx="109728" cy="109728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42432" y="1837943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Resonance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2" y="213055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B7585"/>
                </a:solidFill>
                <a:latin typeface="Calibri"/>
              </a:rPr>
              <a:t>blends need intensity, momentum, fit-to-brand, and white-space.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0" y="2880359"/>
            <a:ext cx="109728" cy="109728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2798063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Explainable by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309067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B7585"/>
                </a:solidFill>
                <a:latin typeface="Calibri"/>
              </a:rPr>
              <a:t>each score is decomposed into its drivers (SHAP-style) — the manager sees why, not just a number.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79"/>
            <a:ext cx="109728" cy="109728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42432" y="3758183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Segment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2" y="4050791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B7585"/>
                </a:solidFill>
                <a:latin typeface="Calibri"/>
              </a:rPr>
              <a:t>resonance is mapped per consumer segment, so positioning is built in.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0" y="4800599"/>
            <a:ext cx="109728" cy="109728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42432" y="4718303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42432" y="501091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B7585"/>
                </a:solidFill>
                <a:latin typeface="Calibri"/>
              </a:rPr>
              <a:t>concepts in the green launch zone become the decision-ready shortlist.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585"/>
                </a:solidFill>
                <a:latin typeface="Calibri"/>
              </a:rPr>
              <a:t>Concept names illustrative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B7585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9E8F"/>
                </a:solidFill>
                <a:latin typeface="Calibri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E2761"/>
                </a:solidFill>
                <a:latin typeface="Cambria"/>
              </a:rPr>
              <a:t>End-to-end, multi-market, and explainable — the post-consolidation 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62C"/>
                </a:solidFill>
                <a:latin typeface="Calibri"/>
              </a:rPr>
              <a:t>Incumbents stop at insight; point tools cover one vertical. Mintel’s June-2025 acquisition of Black Swan vacated the nimble, NPD-native position.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011680"/>
          <a:ext cx="1115568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286000"/>
                <a:gridCol w="2377440"/>
                <a:gridCol w="22860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91440" marR="54864" marT="36576" marB="36576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Mintel / research</a:t>
                      </a:r>
                    </a:p>
                  </a:txBody>
                  <a:tcPr marL="91440" marR="54864" marT="36576" marB="36576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Tastewise / point</a:t>
                      </a:r>
                    </a:p>
                  </a:txBody>
                  <a:tcPr marL="91440" marR="54864" marT="36576" marB="36576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ValueForge</a:t>
                      </a:r>
                    </a:p>
                  </a:txBody>
                  <a:tcPr marL="91440" marR="54864" marT="36576" marB="36576" anchor="ctr"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Signal → ranked concept (end-to-end)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62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62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8722D"/>
                          </a:solidFill>
                          <a:latin typeface="Calibri"/>
                        </a:rPr>
                        <a:t>Full 1→4</a:t>
                      </a:r>
                    </a:p>
                  </a:txBody>
                  <a:tcPr marL="91440" marR="54864" marT="36576" marB="36576" anchor="ctr">
                    <a:solidFill>
                      <a:srgbClr val="E2EFD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Multi-market / APAC depth</a:t>
                      </a:r>
                    </a:p>
                  </a:txBody>
                  <a:tcPr marL="91440" marR="54864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62C"/>
                          </a:solidFill>
                          <a:latin typeface="Calibri"/>
                        </a:rPr>
                        <a:t>Broad, slow</a:t>
                      </a:r>
                    </a:p>
                  </a:txBody>
                  <a:tcPr marL="91440" marR="54864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62C"/>
                          </a:solidFill>
                          <a:latin typeface="Calibri"/>
                        </a:rPr>
                        <a:t>US / vertical</a:t>
                      </a:r>
                    </a:p>
                  </a:txBody>
                  <a:tcPr marL="91440" marR="54864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8722D"/>
                          </a:solidFill>
                          <a:latin typeface="Calibri"/>
                        </a:rPr>
                        <a:t>18 langs · 24 ctry</a:t>
                      </a:r>
                    </a:p>
                  </a:txBody>
                  <a:tcPr marL="91440" marR="54864" marT="36576" marB="36576" anchor="ctr">
                    <a:solidFill>
                      <a:srgbClr val="E2EFD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Generative concepting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62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62C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8722D"/>
                          </a:solidFill>
                          <a:latin typeface="Calibri"/>
                        </a:rPr>
                        <a:t>Concept Genie</a:t>
                      </a:r>
                    </a:p>
                  </a:txBody>
                  <a:tcPr marL="91440" marR="54864" marT="36576" marB="36576" anchor="ctr">
                    <a:solidFill>
                      <a:srgbClr val="E2EFD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Explainable resonance scoring</a:t>
                      </a:r>
                    </a:p>
                  </a:txBody>
                  <a:tcPr marL="91440" marR="54864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62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91440" marR="54864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62C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91440" marR="54864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8722D"/>
                          </a:solidFill>
                          <a:latin typeface="Calibri"/>
                        </a:rPr>
                        <a:t>SHAP-style</a:t>
                      </a:r>
                    </a:p>
                  </a:txBody>
                  <a:tcPr marL="91440" marR="54864" marT="36576" marB="36576" anchor="ctr">
                    <a:solidFill>
                      <a:srgbClr val="E2EFD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Output = decision-ready brief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62C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62C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8722D"/>
                          </a:solidFill>
                          <a:latin typeface="Calibri"/>
                        </a:rPr>
                        <a:t>One-click brief</a:t>
                      </a:r>
                    </a:p>
                  </a:txBody>
                  <a:tcPr marL="91440" marR="54864" marT="36576" marB="36576" anchor="ctr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585"/>
                </a:solidFill>
                <a:latin typeface="Calibri"/>
              </a:rPr>
              <a:t>Source: company sites, CB Insights, Mintel press release (Jun-2025)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B7585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9E8F"/>
                </a:solidFill>
                <a:latin typeface="Calibri"/>
              </a:rPr>
              <a:t>QUANTIFIED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E2761"/>
                </a:solidFill>
                <a:latin typeface="Cambria"/>
              </a:rPr>
              <a:t>A focused ramp compounds to ~$28M ARR by Year 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828800"/>
          <a:ext cx="64008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585"/>
                </a:solidFill>
                <a:latin typeface="Calibri"/>
              </a:rPr>
              <a:t>Bottoms-up: accounts × capture × blended ACV, compounded by NRR (112%).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828800"/>
            <a:ext cx="4434840" cy="96012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938528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E5496"/>
                </a:solidFill>
                <a:latin typeface="Cambria"/>
              </a:rPr>
              <a:t>~$9.2M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938528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C"/>
                </a:solidFill>
                <a:latin typeface="Calibri"/>
              </a:rPr>
              <a:t>Year-3 ARR (base case)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907791"/>
            <a:ext cx="4434840" cy="96012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01752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~$28M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01752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C"/>
                </a:solidFill>
                <a:latin typeface="Calibri"/>
              </a:rPr>
              <a:t>Year-5 ARR (base case)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3986783"/>
            <a:ext cx="4434840" cy="96012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4096511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F9E8F"/>
                </a:solidFill>
                <a:latin typeface="Cambria"/>
              </a:rPr>
              <a:t>110%+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4096511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C"/>
                </a:solidFill>
                <a:latin typeface="Calibri"/>
              </a:rPr>
              <a:t>Target net revenue retention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5065775"/>
            <a:ext cx="4434840" cy="96012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5175503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8722D"/>
                </a:solidFill>
                <a:latin typeface="Cambria"/>
              </a:rPr>
              <a:t>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5175503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C"/>
                </a:solidFill>
                <a:latin typeface="Calibri"/>
              </a:rPr>
              <a:t>Time-to-decision (vs. weeks)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585"/>
                </a:solidFill>
                <a:latin typeface="Calibri"/>
              </a:rPr>
              <a:t>Illustrative, benchmark-anchored · SOM outer bound ~$30-60M (3-yr)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B7585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9E8F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E2761"/>
                </a:solidFill>
                <a:latin typeface="Cambria"/>
              </a:rPr>
              <a:t>The category just consolidated — the white space is open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828800"/>
          <a:ext cx="60350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978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585"/>
                </a:solidFill>
                <a:latin typeface="Calibri"/>
              </a:rPr>
              <a:t>TAM ≈ $16B · SAM ≈ $5-6B · SOM ≈ $30-60M (illustrative).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828800"/>
            <a:ext cx="4800600" cy="182880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F9E8F"/>
                </a:solidFill>
                <a:latin typeface="Calibri"/>
              </a:rPr>
              <a:t>THE CATALYST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286000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62C"/>
                </a:solidFill>
                <a:latin typeface="Calibri"/>
              </a:rPr>
              <a:t>Mintel acquired Black Swan Data (Jun-2025), folding the strongest pure-play predictor into a slow incumbent — vacating the nimble, end-to-end, multi-market NPD position ValueForge is built to 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840480"/>
            <a:ext cx="4800600" cy="192024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977639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WHERE TO WIN FIRST</a:t>
            </a:r>
          </a:p>
        </p:txBody>
      </p:sp>
      <p:sp>
        <p:nvSpPr>
          <p:cNvPr id="12" name="Oval 11"/>
          <p:cNvSpPr/>
          <p:nvPr/>
        </p:nvSpPr>
        <p:spPr>
          <a:xfrm>
            <a:off x="7159752" y="4370832"/>
            <a:ext cx="109728" cy="109728"/>
          </a:xfrm>
          <a:prstGeom prst="ellipse">
            <a:avLst/>
          </a:prstGeom>
          <a:solidFill>
            <a:srgbClr val="387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9208" y="42976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722D"/>
                </a:solidFill>
                <a:latin typeface="Calibri"/>
              </a:rPr>
              <a:t>Wave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297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62C"/>
                </a:solidFill>
                <a:latin typeface="Calibri"/>
              </a:rPr>
              <a:t>SEA + India — cheap, data-ready</a:t>
            </a:r>
          </a:p>
        </p:txBody>
      </p:sp>
      <p:sp>
        <p:nvSpPr>
          <p:cNvPr id="15" name="Oval 14"/>
          <p:cNvSpPr/>
          <p:nvPr/>
        </p:nvSpPr>
        <p:spPr>
          <a:xfrm>
            <a:off x="7159752" y="4828032"/>
            <a:ext cx="109728" cy="109728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9208" y="47548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5496"/>
                </a:solidFill>
                <a:latin typeface="Calibri"/>
              </a:rPr>
              <a:t>Wave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7548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62C"/>
                </a:solidFill>
                <a:latin typeface="Calibri"/>
              </a:rPr>
              <a:t>US — highest willingness-to-pay</a:t>
            </a:r>
          </a:p>
        </p:txBody>
      </p:sp>
      <p:sp>
        <p:nvSpPr>
          <p:cNvPr id="18" name="Oval 17"/>
          <p:cNvSpPr/>
          <p:nvPr/>
        </p:nvSpPr>
        <p:spPr>
          <a:xfrm>
            <a:off x="7159752" y="5285232"/>
            <a:ext cx="109728" cy="109728"/>
          </a:xfrm>
          <a:prstGeom prst="ellipse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5212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8860D"/>
                </a:solidFill>
                <a:latin typeface="Calibri"/>
              </a:rPr>
              <a:t>Wave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212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62C"/>
                </a:solidFill>
                <a:latin typeface="Calibri"/>
              </a:rPr>
              <a:t>EU + Japan — reuse compliance / partners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585"/>
                </a:solidFill>
                <a:latin typeface="Calibri"/>
              </a:rPr>
              <a:t>Sources: GrandView, Verified Market Reports, Mintel · figures illustrative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B7585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FD1C4"/>
                </a:solidFill>
                <a:latin typeface="Calibri"/>
              </a:rPr>
              <a:t>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0584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“What’s trending?” → “what to launch, for whom,</a:t>
            </a:r>
          </a:p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and why it will resonate.”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670048"/>
            <a:ext cx="128016" cy="128016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9689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D1C4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59689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Data-rich, decision-poor; NPD slow &amp; risky.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236976"/>
            <a:ext cx="128016" cy="128016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638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D1C4"/>
                </a:solidFill>
                <a:latin typeface="Calibri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163824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The CPG brand/innovation manager who owns the launch, not the pipeline.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803903"/>
            <a:ext cx="128016" cy="128016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3075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D1C4"/>
                </a:solidFill>
                <a:latin typeface="Calibri"/>
              </a:rPr>
              <a:t>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30752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Sense → Synthesize → Create → Screen — advance only white-space concepts.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70831"/>
            <a:ext cx="128016" cy="128016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D1C4"/>
                </a:solidFill>
                <a:latin typeface="Calibri"/>
              </a:rPr>
              <a:t>Differentiation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9768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End-to-end, multi-market, explainable — the post-consolidation white space.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937759"/>
            <a:ext cx="128016" cy="128016"/>
          </a:xfrm>
          <a:prstGeom prst="ellipse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64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D1C4"/>
                </a:solidFill>
                <a:latin typeface="Calibri"/>
              </a:rP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864608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A decision-ready strategy brief, on demand.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943600"/>
            <a:ext cx="10927080" cy="640080"/>
          </a:xfrm>
          <a:prstGeom prst="roundRect">
            <a:avLst/>
          </a:prstGeom>
          <a:solidFill>
            <a:srgbClr val="1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605332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Standardize the engine, localize the edge, package by maturity, price by willingness-to-pay — one repeatable, explainable engine so growth compounds, not fragments.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